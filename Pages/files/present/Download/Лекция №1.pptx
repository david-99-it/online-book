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82" r:id="rId4"/>
    <p:sldId id="283" r:id="rId5"/>
    <p:sldId id="261" r:id="rId6"/>
    <p:sldId id="289" r:id="rId7"/>
    <p:sldId id="291" r:id="rId8"/>
    <p:sldId id="293" r:id="rId9"/>
    <p:sldId id="292" r:id="rId10"/>
    <p:sldId id="263" r:id="rId11"/>
    <p:sldId id="265" r:id="rId12"/>
    <p:sldId id="287" r:id="rId13"/>
    <p:sldId id="286" r:id="rId14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5C"/>
    <a:srgbClr val="6600CC"/>
    <a:srgbClr val="5757C9"/>
    <a:srgbClr val="3F136F"/>
    <a:srgbClr val="FEE8FB"/>
    <a:srgbClr val="CC3399"/>
    <a:srgbClr val="3366FF"/>
    <a:srgbClr val="66FF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1572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74BBFE0-E3D3-4CB4-AFE3-2199C524732C}" type="datetimeFigureOut">
              <a:rPr lang="ru-RU"/>
              <a:pPr>
                <a:defRPr/>
              </a:pPr>
              <a:t>17.05.2020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1A3C085-A465-4F65-BEED-09EC6C27E46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518849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5E4002-0C00-4600-A524-24DB4D4665F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23581496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3B78CC-0EA9-4281-840D-91F66DD276D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4734321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1F4367-CBD5-4EB9-B11C-E5000DA2CD2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7551363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D34A3C-D698-4D75-8DFA-07D161E3D8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2039721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3D63A6-72A2-403F-B451-BF911649A87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209934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30E38E-19E8-4E24-A82B-5557EEADE24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1301950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EB141B-7FF4-4907-8055-80D7741903C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708412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27BA1-B48C-4117-8FD9-B39BAD95627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999338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088138-470B-4D9E-B391-0B4E99A9134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3081525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1309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81552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1646650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70146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302058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09642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4F0A12-67EC-4279-8261-44B0C5BC84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5208226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6DA82-11CC-43AE-9181-D9807D25A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439740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1534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mvtom.ru/index.php/%D0%9F%D1%80%D0%BE%D0%B3%D1%80%D0%B0%D0%BC%D0%BC%D0%B8%D1%81%D1%82" TargetMode="External"/><Relationship Id="rId2" Type="http://schemas.openxmlformats.org/officeDocument/2006/relationships/hyperlink" Target="http://wiki.mvtom.ru/index.php/%D0%AF%D0%B7%D1%8B%D0%BA_%D0%BF%D1%80%D0%BE%D0%B3%D1%80%D0%B0%D0%BC%D0%BC%D0%B8%D1%80%D0%BE%D0%B2%D0%B0%D0%BD%D0%B8%D1%8F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77867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100" b="1" dirty="0" smtClean="0"/>
              <a:t> 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Лекция №1 (2</a:t>
            </a:r>
            <a:r>
              <a:rPr lang="ky-KG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ч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algn="ctr"/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Тема: </a:t>
            </a:r>
          </a:p>
          <a:p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Понятия алгоритма и языка программирования. Разновидности языков программирования. Жизненный цикл программы. </a:t>
            </a:r>
            <a:endParaRPr lang="ru-RU" sz="3600" b="1" i="1" dirty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Цель лекции:</a:t>
            </a:r>
            <a:r>
              <a:rPr lang="ru-RU" sz="2800" b="1" dirty="0" smtClean="0"/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Ознакомить студентов с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общими понятиями программирования. Изучить жизненный цикл программы.</a:t>
            </a:r>
          </a:p>
          <a:p>
            <a:r>
              <a:rPr lang="ru-RU" sz="24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Рассматриваемые вопросы:</a:t>
            </a:r>
          </a:p>
          <a:p>
            <a:pPr marL="457200" lvl="0" indent="161925"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Понятие алгоритма. </a:t>
            </a:r>
          </a:p>
          <a:p>
            <a:pPr marL="457200" lvl="0" indent="161925"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Языки программирования.</a:t>
            </a:r>
          </a:p>
          <a:p>
            <a:pPr marL="457200" lvl="0" indent="161925"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Процесс выполнения программы.</a:t>
            </a:r>
          </a:p>
          <a:p>
            <a:pPr marL="457200" lvl="0" indent="161925"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Жизненный цикл программы.</a:t>
            </a:r>
          </a:p>
          <a:p>
            <a:r>
              <a:rPr lang="ru-RU" sz="24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Глоссарий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          Программное обеспечение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неотъемлемая часть компьютерной системы. Оно является логическим продолжением технических средств.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Машинный язык 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тот язык, который  понимает ПК.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Язык программирования высокого уровня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  <a:hlinkClick r:id="rId2" tooltip="Язык программирования"/>
              </a:rPr>
              <a:t>язык программирования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разработанный для быстроты и удобства использования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  <a:hlinkClick r:id="rId3" tooltip="Программист"/>
              </a:rPr>
              <a:t>программистом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Языки программирования высокого уровня стремятся облегчить решение сложных программных задач. 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Компоновка 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использование библиотечных кодов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158" y="928670"/>
            <a:ext cx="8534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Программирование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– составление последовательности команд, которая необходима для решения поставленной задачи.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Программа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– конечная последовательность предписаний с указанием порядка их выполнения.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  В случае, когда исполнителем является компьютер, предписание называется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командой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а система предписаний называется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системой команд компьютера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Разные компьютеры в зависимости от их устройства могут иметь разные системы команд.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   Алгоритм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– это точное и понятное указание исполнителю совершить конечную последовательность действий, направленных на достижение указанной цели или на 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решение поставленной задачи.</a:t>
            </a:r>
          </a:p>
          <a:p>
            <a:endParaRPr lang="ru-RU" sz="2400" b="1" i="1" dirty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38400" y="685800"/>
            <a:ext cx="4466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Понятие алгоритма</a:t>
            </a:r>
            <a:endParaRPr lang="ru-RU" sz="3600" b="1" i="1" dirty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14282" y="142852"/>
            <a:ext cx="85344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Любой алгоритм обладает следующими свойствами:</a:t>
            </a:r>
          </a:p>
          <a:p>
            <a:pPr lvl="0"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Дискретность.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Выполнение алгоритма разбивается на последовательность элементарных действий – шагов. </a:t>
            </a:r>
          </a:p>
          <a:p>
            <a:pPr lvl="0"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Точность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или детерминированность. Запись алгоритма должна быть такой, чтобы, выполнив очередную команду, исполнитель точно знал, какую команду надо выполнять следующей.</a:t>
            </a:r>
          </a:p>
          <a:p>
            <a:pPr lvl="0"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Понятность.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Каждый алгоритм строится в расчете на конкретного исполнителя, который должен быть в состоянии выполнить каждую команду алгоритма в строгом соответствии с ее назначением.</a:t>
            </a:r>
          </a:p>
          <a:p>
            <a:pPr lvl="0"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Результативность.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точном исполнении всех предписаний алгоритма процесс должен завершится за конечное число шагов и при этом должен быть получен какой-либо ответ на поставленную задачу. </a:t>
            </a:r>
          </a:p>
          <a:p>
            <a:pPr lvl="0"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Массовость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. 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помощью одного и того же алгоритма можно решать однотипные задачи и делать это неоднократно. Свойство массовости значительно увеличивает практическую ценность алгоритмов.</a:t>
            </a:r>
            <a:endParaRPr lang="ru-RU" sz="2400" b="1" i="1" dirty="0" smtClean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i="1" dirty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912674"/>
            <a:ext cx="85344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Следование. 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Представляет собой последовательное выполнение действий.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Рис. 1.1. Следование.</a:t>
            </a:r>
          </a:p>
          <a:p>
            <a:pPr algn="just"/>
            <a:endParaRPr lang="ru-RU" sz="2700" b="1" i="1" dirty="0" smtClean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 descr="image01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928802"/>
            <a:ext cx="3571900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71472" y="642918"/>
            <a:ext cx="797746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7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dirty="0" smtClean="0"/>
              <a:t>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Развилка</a:t>
            </a:r>
            <a:r>
              <a:rPr lang="ru-RU" sz="2800" b="1" i="1" dirty="0" smtClean="0"/>
              <a:t>.</a:t>
            </a:r>
            <a:r>
              <a:rPr lang="ru-RU" sz="2800" dirty="0" smtClean="0"/>
              <a:t> </a:t>
            </a:r>
          </a:p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Применяется в случае, когда в зависимости от истинности некоторого логического условия необходимо выполнить, то или иное действие. Рис. 1.2. Развилка.</a:t>
            </a:r>
          </a:p>
          <a:p>
            <a:pPr algn="just"/>
            <a:endParaRPr lang="ru-RU" sz="2400" b="1" i="1" dirty="0" smtClean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 descr="image016"/>
          <p:cNvPicPr/>
          <p:nvPr/>
        </p:nvPicPr>
        <p:blipFill>
          <a:blip r:embed="rId2"/>
          <a:srcRect l="8914" t="5650" r="6968" b="-625"/>
          <a:stretch>
            <a:fillRect/>
          </a:stretch>
        </p:blipFill>
        <p:spPr bwMode="auto">
          <a:xfrm>
            <a:off x="1357290" y="2500306"/>
            <a:ext cx="4295705" cy="385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0"/>
            <a:ext cx="8643998" cy="3229524"/>
          </a:xfrm>
        </p:spPr>
        <p:txBody>
          <a:bodyPr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Цикл.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Применяется, когда некоторые действия необходимо выполнить несколько раз. Существуют две разновидности цикла.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Цикл До.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Применяется, когда некоторые операции надо повторять до тех пор, пока некоторое условие не станет ложным. Рис. 1.3. Цикл До.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None/>
            </a:pPr>
            <a:endParaRPr lang="ru-RU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 descr="image01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3286124"/>
            <a:ext cx="464347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214290"/>
            <a:ext cx="8572560" cy="208651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Цикл Пока.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Применяется, когда некоторые операции надо повторять до тех пор, пока некоторое условие не станет истинным. Рис. 1.4. Цикл Пока.</a:t>
            </a:r>
          </a:p>
          <a:p>
            <a:pPr>
              <a:buNone/>
            </a:pP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 descr="image020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2436962"/>
            <a:ext cx="3571900" cy="3778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43182"/>
            <a:ext cx="8501090" cy="3233742"/>
          </a:xfrm>
        </p:spPr>
        <p:txBody>
          <a:bodyPr>
            <a:normAutofit fontScale="90000"/>
          </a:bodyPr>
          <a:lstStyle/>
          <a:p>
            <a:pPr algn="just"/>
            <a:r>
              <a:rPr lang="ru-RU" sz="2700" cap="none" dirty="0" smtClean="0">
                <a:latin typeface="Times New Roman" pitchFamily="18" charset="0"/>
                <a:ea typeface="+mn-ea"/>
                <a:cs typeface="Times New Roman" pitchFamily="18" charset="0"/>
              </a:rPr>
              <a:t>		Машинные языки часто называют объектным кодом. </a:t>
            </a:r>
            <a:br>
              <a:rPr lang="ru-RU" sz="2700" cap="none" dirty="0" smtClean="0"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lang="ru-RU" sz="2700" cap="none" dirty="0" smtClean="0">
                <a:latin typeface="Times New Roman" pitchFamily="18" charset="0"/>
                <a:ea typeface="+mn-ea"/>
                <a:cs typeface="Times New Roman" pitchFamily="18" charset="0"/>
              </a:rPr>
              <a:t>Для ускорения процесса программирования были разработаны языки высокого уровня, в которых для выполнения сложных действий достаточно написать один оператор. </a:t>
            </a:r>
            <a:br>
              <a:rPr lang="ru-RU" sz="2700" cap="none" dirty="0" smtClean="0"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lang="ru-RU" sz="2700" cap="none" dirty="0" smtClean="0">
                <a:latin typeface="Times New Roman" pitchFamily="18" charset="0"/>
                <a:ea typeface="+mn-ea"/>
                <a:cs typeface="Times New Roman" pitchFamily="18" charset="0"/>
              </a:rPr>
              <a:t>К числу наиболее мощных и широко используемых языков программирования относятся: С++, С#, </a:t>
            </a:r>
            <a:r>
              <a:rPr lang="en-US" sz="2700" cap="none" dirty="0" smtClean="0">
                <a:latin typeface="Times New Roman" pitchFamily="18" charset="0"/>
                <a:ea typeface="+mn-ea"/>
                <a:cs typeface="Times New Roman" pitchFamily="18" charset="0"/>
              </a:rPr>
              <a:t>Java</a:t>
            </a:r>
            <a:r>
              <a:rPr lang="ru-RU" sz="2700" cap="none" dirty="0" smtClean="0">
                <a:latin typeface="Times New Roman" pitchFamily="18" charset="0"/>
                <a:ea typeface="+mn-ea"/>
                <a:cs typeface="Times New Roman" pitchFamily="18" charset="0"/>
              </a:rPr>
              <a:t> и т.д</a:t>
            </a:r>
            <a:r>
              <a:rPr lang="ru-RU" dirty="0" smtClean="0"/>
              <a:t>. 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214290"/>
            <a:ext cx="8396318" cy="2752724"/>
          </a:xfrm>
        </p:spPr>
        <p:txBody>
          <a:bodyPr>
            <a:normAutofit fontScale="92500" lnSpcReduction="10000"/>
          </a:bodyPr>
          <a:lstStyle/>
          <a:p>
            <a:pPr lvl="0" algn="ctr">
              <a:buNone/>
            </a:pPr>
            <a:r>
              <a:rPr lang="ru-RU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Языки программирования</a:t>
            </a:r>
            <a:endParaRPr lang="ru-RU" sz="3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Сотни имеющихся компьютерных языков могут быть разделены на 3 основных типа: </a:t>
            </a:r>
          </a:p>
          <a:p>
            <a:pPr lvl="0"/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Машинные языки</a:t>
            </a:r>
          </a:p>
          <a:p>
            <a:pPr lvl="0"/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Ассемблерные языки</a:t>
            </a:r>
          </a:p>
          <a:p>
            <a:pPr lvl="0"/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Языки высокого уровня</a:t>
            </a:r>
          </a:p>
          <a:p>
            <a:pPr>
              <a:buNone/>
            </a:pPr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8929718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Процесс выполнения программы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	Преобразование исходного текста программы в машинные коды выполняется специальной программой – 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транслятором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  Трансляторы бывают двух видов: 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компиляторы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интерпретаторы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    Компилятор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преобразует исходную программу на любом языке высокого уровня в некоторую стандартную форму на машинном языке, называемую 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объектным модулем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    Интерпретатор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преобразует отдельные предложения исходного языка в машинный код и немедленно их исполняет. Интерпретатор не создает объектный модуль.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Программа, которая связывает независимо оттранслированные объектные модули в единую программу, называется 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редактором связей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Редактор связей имеет на входе объектные модули и генерирует на выходе 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загрузочный модуль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помещаемый на внешнее запоминающее устройство. Загрузочный модуль помещается в оперативную память специальной программой, называемой 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загрузчиком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ctr"/>
            <a:endParaRPr lang="ru-RU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4"/>
          <p:cNvSpPr txBox="1">
            <a:spLocks noChangeArrowheads="1"/>
          </p:cNvSpPr>
          <p:nvPr/>
        </p:nvSpPr>
        <p:spPr bwMode="auto">
          <a:xfrm>
            <a:off x="4267200" y="990600"/>
            <a:ext cx="449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00034" y="214290"/>
            <a:ext cx="815340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Жизненный цикл программы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последовательность шагов, которые следует предпринять для разработки программы.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Можно выделить 6 этапов  разработки программы:</a:t>
            </a:r>
          </a:p>
          <a:p>
            <a:pPr lvl="0">
              <a:buFont typeface="Wingdings" pitchFamily="2" charset="2"/>
              <a:buChar char="ü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Запись алгоритма на языке программирования.</a:t>
            </a:r>
          </a:p>
          <a:p>
            <a:pPr lvl="0">
              <a:buFont typeface="Wingdings" pitchFamily="2" charset="2"/>
              <a:buChar char="ü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Создание программы – состоит в редактировании файла с помощью программы редактора. </a:t>
            </a:r>
          </a:p>
          <a:p>
            <a:pPr lvl="0">
              <a:buFont typeface="Wingdings" pitchFamily="2" charset="2"/>
              <a:buChar char="ü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Компиляция программы – процесс перевода текста программы в машинный код. Производится тестирование и отладка программы.</a:t>
            </a:r>
          </a:p>
          <a:p>
            <a:pPr lvl="0">
              <a:buFont typeface="Wingdings" pitchFamily="2" charset="2"/>
              <a:buChar char="ü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Процесс использования библиотечных кодов называется компоновкой (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linking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0">
              <a:buFont typeface="Wingdings" pitchFamily="2" charset="2"/>
              <a:buChar char="ü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Загрузка.</a:t>
            </a:r>
          </a:p>
          <a:p>
            <a:pPr lvl="0">
              <a:buFont typeface="Wingdings" pitchFamily="2" charset="2"/>
              <a:buChar char="ü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Исполнение.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ctr"/>
            <a:endParaRPr lang="ru-RU" sz="3600" b="1" i="1" dirty="0" smtClean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4"/>
          <p:cNvSpPr txBox="1">
            <a:spLocks noChangeArrowheads="1"/>
          </p:cNvSpPr>
          <p:nvPr/>
        </p:nvSpPr>
        <p:spPr bwMode="auto">
          <a:xfrm>
            <a:off x="4267200" y="990600"/>
            <a:ext cx="449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52400" y="30480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i="1" dirty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В результате изучения курса информатики студент должен:</a:t>
            </a:r>
          </a:p>
          <a:p>
            <a:r>
              <a:rPr lang="ru-RU" sz="2800" b="1" i="1" dirty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знать: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способы 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хранения и основные виды хранилищ информации;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логические операции, их свойства и обозначения;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общую функциональную схему компьютера;</a:t>
            </a:r>
          </a:p>
          <a:p>
            <a:r>
              <a:rPr lang="ru-RU" sz="28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уметь: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перечислять 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основные характерные черты информационного общества;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строить 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логические схемы из основных логических элементов по формулам логических выражений;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применять текстовый </a:t>
            </a: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и графический редакторы 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для редактирования и форматирования </a:t>
            </a: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документов;</a:t>
            </a:r>
            <a:endParaRPr lang="ru-RU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иметь </a:t>
            </a:r>
            <a:r>
              <a:rPr lang="ru-RU" sz="2800" b="1" i="1" dirty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представление: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об информационных основах процессов управления;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 методах поиска информации;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 принципах кодирования информации, о системах счисления</a:t>
            </a:r>
            <a:r>
              <a:rPr lang="ru-RU" sz="2000" dirty="0"/>
              <a:t>;</a:t>
            </a:r>
            <a:endParaRPr lang="ru-RU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0" y="285728"/>
            <a:ext cx="885828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Например, 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написать программу, которая, используя, оператор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1F1F1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cin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позволяет вводить данные с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клавиатуры.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#include &lt;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iostream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&gt;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using namespace std;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main ()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{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char   name[20];                                                                                                                                                       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&lt;&lt;"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Kak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vashe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imya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";                                                                                                         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cin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&gt;&gt;name;                                                                                                                                 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&lt;&lt;"Privet "&lt;&lt;name&lt;&lt;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endl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system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("PAUSE");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	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return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0;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}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</a:t>
            </a: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В результате тестирования программы происходит чтение данных с клавиатуры и выводится соответствующее значение.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1532</TotalTime>
  <Words>209</Words>
  <Application>Microsoft Office PowerPoint</Application>
  <PresentationFormat>Экран (4:3)</PresentationFormat>
  <Paragraphs>84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Сектор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  Машинные языки часто называют объектным кодом.  Для ускорения процесса программирования были разработаны языки высокого уровня, в которых для выполнения сложных действий достаточно написать один оператор.  К числу наиболее мощных и широко используемых языков программирования относятся: С++, С#, Java и т.д.  </vt:lpstr>
      <vt:lpstr>Слайд 10</vt:lpstr>
      <vt:lpstr>Слайд 11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User</cp:lastModifiedBy>
  <cp:revision>142</cp:revision>
  <cp:lastPrinted>1601-01-01T00:00:00Z</cp:lastPrinted>
  <dcterms:created xsi:type="dcterms:W3CDTF">1601-01-01T00:00:00Z</dcterms:created>
  <dcterms:modified xsi:type="dcterms:W3CDTF">2020-05-17T08:11:06Z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