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82" r:id="rId4"/>
    <p:sldId id="283" r:id="rId5"/>
    <p:sldId id="261" r:id="rId6"/>
    <p:sldId id="289" r:id="rId7"/>
    <p:sldId id="291" r:id="rId8"/>
    <p:sldId id="293" r:id="rId9"/>
    <p:sldId id="292" r:id="rId10"/>
    <p:sldId id="263" r:id="rId11"/>
    <p:sldId id="265" r:id="rId1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1E5C"/>
    <a:srgbClr val="6600CC"/>
    <a:srgbClr val="5757C9"/>
    <a:srgbClr val="3F136F"/>
    <a:srgbClr val="FEE8FB"/>
    <a:srgbClr val="CC3399"/>
    <a:srgbClr val="3366FF"/>
    <a:srgbClr val="66FF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0" d="100"/>
          <a:sy n="60" d="100"/>
        </p:scale>
        <p:origin x="-1572" y="-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74BBFE0-E3D3-4CB4-AFE3-2199C524732C}" type="datetimeFigureOut">
              <a:rPr lang="ru-RU"/>
              <a:pPr>
                <a:defRPr/>
              </a:pPr>
              <a:t>17.05.2020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A3C085-A465-4F65-BEED-09EC6C27E46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518849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5E4002-0C00-4600-A524-24DB4D4665F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2358149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3B78CC-0EA9-4281-840D-91F66DD276D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4734321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1F4367-CBD5-4EB9-B11C-E5000DA2CD2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075513634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D34A3C-D698-4D75-8DFA-07D161E3D89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92039721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3D63A6-72A2-403F-B451-BF911649A87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9209934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430E38E-19E8-4E24-A82B-5557EEADE24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11301950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EB141B-7FF4-4907-8055-80D7741903C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87084127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C27BA1-B48C-4117-8FD9-B39BAD95627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39993384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088138-470B-4D9E-B391-0B4E99A9134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30815252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41309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81552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1646650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770146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="" xmlns:p14="http://schemas.microsoft.com/office/powerpoint/2010/main" val="302058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0096429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4F0A12-67EC-4279-8261-44B0C5BC84D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3652082265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86DA82-11CC-43AE-9181-D9807D25A2EA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843974039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6310561B-4E88-4AF4-AD6A-E2B55C6D0FC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015346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>
    <p:wipe dir="r"/>
  </p:transition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msdn.microsoft.com/ru-ru/library/b0kk5few.aspx" TargetMode="External"/><Relationship Id="rId3" Type="http://schemas.openxmlformats.org/officeDocument/2006/relationships/hyperlink" Target="https://msdn.microsoft.com/ru-ru/library/37zc9d2w.aspx" TargetMode="External"/><Relationship Id="rId7" Type="http://schemas.openxmlformats.org/officeDocument/2006/relationships/hyperlink" Target="https://msdn.microsoft.com/ru-ru/library/07x6b05d.aspx" TargetMode="External"/><Relationship Id="rId2" Type="http://schemas.openxmlformats.org/officeDocument/2006/relationships/hyperlink" Target="https://msdn.microsoft.com/ru-ru/library/ts4c4dw6.aspx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sdn.microsoft.com/ru-ru/library/6e3dc2z3.aspx" TargetMode="External"/><Relationship Id="rId11" Type="http://schemas.openxmlformats.org/officeDocument/2006/relationships/hyperlink" Target="https://msdn.microsoft.com/ru-ru/library/0ky11k1s.aspx" TargetMode="External"/><Relationship Id="rId5" Type="http://schemas.openxmlformats.org/officeDocument/2006/relationships/hyperlink" Target="https://msdn.microsoft.com/ru-ru/library/k0t5wee3.aspx" TargetMode="External"/><Relationship Id="rId10" Type="http://schemas.openxmlformats.org/officeDocument/2006/relationships/hyperlink" Target="https://msdn.microsoft.com/ru-ru/library/b80153d8.aspx" TargetMode="External"/><Relationship Id="rId4" Type="http://schemas.openxmlformats.org/officeDocument/2006/relationships/hyperlink" Target="https://msdn.microsoft.com/ru-ru/library/cc953fe1.aspx" TargetMode="External"/><Relationship Id="rId9" Type="http://schemas.openxmlformats.org/officeDocument/2006/relationships/hyperlink" Target="https://msdn.microsoft.com/ru-ru/library/y34a3dk2.aspx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8596" y="642918"/>
            <a:ext cx="778674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1100" b="1" dirty="0" smtClean="0"/>
              <a:t>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№2 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(2</a:t>
            </a:r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ч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algn="ctr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Тема: </a:t>
            </a:r>
          </a:p>
          <a:p>
            <a:pPr algn="just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Язык программирования высокого уровня С++ и среда </a:t>
            </a:r>
          </a:p>
          <a:p>
            <a:pPr algn="just"/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разработки </a:t>
            </a:r>
            <a:r>
              <a:rPr lang="ru-RU" sz="3600" b="1" i="1" dirty="0" err="1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i="1" dirty="0" err="1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Studio</a:t>
            </a:r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6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Типы </a:t>
            </a:r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данных. Ключевые слова</a:t>
            </a:r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y-KG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Операции и операторы  языка С++.</a:t>
            </a:r>
            <a:endParaRPr lang="ru-RU" sz="36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36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3600" b="1" i="1" dirty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Цель лекции: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Изучить основы создания программ в С++.</a:t>
            </a:r>
          </a:p>
          <a:p>
            <a:r>
              <a:rPr lang="ru-RU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Рассматриваемые вопросы:</a:t>
            </a:r>
          </a:p>
          <a:p>
            <a:pPr lvl="0">
              <a:buFont typeface="Wingdings" pitchFamily="2" charset="2"/>
              <a:buChar char="Ø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Переменные и типы данных.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 Ключевые слова.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>
              <a:buFont typeface="Wingdings" pitchFamily="2" charset="2"/>
              <a:buChar char="Ø"/>
            </a:pP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Операции и операторы  языка С++.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Глоссарий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Данные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любые данные, т.е. константы, переменные, значения функций или выражения, в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C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++ характеризуются своими типами.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Тип данных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– это описание диапазона значений, которые может принимать переменная, указанного типа.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Модификатор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специальные составляющие основных типов данных, предназначенные для расширения возможности использования типов данных при программировании на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C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++.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библиотечных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кодов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7158" y="928670"/>
            <a:ext cx="85344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Для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решения задачи в любой программе выполняется обработка каких-либо данных. Данные могут быть самых различных типов: целые и вещественные числа, символы, строки, массивы. Данные в языке С++ описываются в начале функции. 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Описание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- это оператор, который вводит имя в программе. Описание задает тип этого имени. Тип определяет правильное использование имени или выражения. 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Переменная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– поименованный участок памяти, в котором хранится значение.                               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	 К основному типу можно применять прилагательное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Значение типа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const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не может изменяться после инициализации.  </a:t>
            </a: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Инициализация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– присвоение переменной первоначального значения. (Например,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const float pi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=3.14). </a:t>
            </a:r>
          </a:p>
          <a:p>
            <a:pPr algn="just"/>
            <a:endParaRPr lang="ru-RU" sz="2400" b="1" i="1" dirty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5786" y="214290"/>
            <a:ext cx="7429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Переменные и типы данных.</a:t>
            </a:r>
            <a:r>
              <a:rPr lang="ky-KG" sz="3600" b="1" dirty="0" smtClean="0">
                <a:latin typeface="Times New Roman" pitchFamily="18" charset="0"/>
                <a:cs typeface="Times New Roman" pitchFamily="18" charset="0"/>
              </a:rPr>
              <a:t> Ключевые слова.</a:t>
            </a:r>
            <a:endParaRPr lang="ru-RU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14282" y="142852"/>
            <a:ext cx="8534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Большинство программ на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Visual 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С++ будут использовать следующие типы данных:</a:t>
            </a:r>
          </a:p>
          <a:p>
            <a:pPr algn="just"/>
            <a:endParaRPr lang="ru-RU" sz="2400" b="1" i="1" dirty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 l="26354" t="50782" r="25628" b="21875"/>
          <a:stretch>
            <a:fillRect/>
          </a:stretch>
        </p:blipFill>
        <p:spPr bwMode="auto">
          <a:xfrm>
            <a:off x="0" y="1142984"/>
            <a:ext cx="9144000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85728"/>
            <a:ext cx="8534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rgbClr val="1E1E5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Основные типы данных могут быть расширены с помощью следующих модификаторов: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nsigned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употребляется для обозначения переменных только с положительными числами.      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short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употребляется для обозначения коротких целых чисел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ong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употребляется для обозначения длинных  целых чисел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. Например,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short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Ключевые слова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— это предварительно определенные зарезервированные идентификаторы, имеющие специальные значения. Их использование в программе в качестве идентификаторов не допускается. Для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Microsoft C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++ зарезервированы следующие ключевые слова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array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break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char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5"/>
              </a:rPr>
              <a:t>case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6"/>
              </a:rPr>
              <a:t>continue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7"/>
              </a:rPr>
              <a:t>const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8"/>
              </a:rPr>
              <a:t>do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9"/>
              </a:rPr>
              <a:t>else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10"/>
              </a:rPr>
              <a:t>for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11"/>
              </a:rPr>
              <a:t>false</a:t>
            </a:r>
            <a:r>
              <a:rPr lang="ky-KG" sz="2400" dirty="0" smtClean="0">
                <a:latin typeface="Times New Roman" pitchFamily="18" charset="0"/>
                <a:cs typeface="Times New Roman" pitchFamily="18" charset="0"/>
              </a:rPr>
              <a:t> и т.д.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b="1" i="1" dirty="0" smtClean="0">
              <a:solidFill>
                <a:srgbClr val="1E1E5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71472" y="642918"/>
            <a:ext cx="79774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y-KG" sz="2800" b="1" dirty="0" smtClean="0"/>
              <a:t>Операции и операторы  языка С++</a:t>
            </a:r>
            <a:endParaRPr lang="ru-RU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l="32394" t="69336" r="31918" b="3320"/>
          <a:stretch>
            <a:fillRect/>
          </a:stretch>
        </p:blipFill>
        <p:spPr bwMode="auto">
          <a:xfrm>
            <a:off x="1285852" y="4214818"/>
            <a:ext cx="6072230" cy="264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23060" t="30274" r="22035" b="60937"/>
          <a:stretch>
            <a:fillRect/>
          </a:stretch>
        </p:blipFill>
        <p:spPr bwMode="auto">
          <a:xfrm>
            <a:off x="0" y="1214422"/>
            <a:ext cx="9017062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 l="32870" t="39909" r="31442" b="34700"/>
          <a:stretch>
            <a:fillRect/>
          </a:stretch>
        </p:blipFill>
        <p:spPr bwMode="auto">
          <a:xfrm>
            <a:off x="1285852" y="1857364"/>
            <a:ext cx="6072230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 l="23060" t="36133" r="22035" b="28711"/>
          <a:stretch>
            <a:fillRect/>
          </a:stretch>
        </p:blipFill>
        <p:spPr bwMode="auto">
          <a:xfrm>
            <a:off x="1" y="1"/>
            <a:ext cx="9120218" cy="35690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 l="33529" t="32422" r="32430" b="49023"/>
          <a:stretch>
            <a:fillRect/>
          </a:stretch>
        </p:blipFill>
        <p:spPr bwMode="auto">
          <a:xfrm>
            <a:off x="1428728" y="3571875"/>
            <a:ext cx="6215106" cy="1904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 l="33534" t="77344" r="32430" b="11365"/>
          <a:stretch>
            <a:fillRect/>
          </a:stretch>
        </p:blipFill>
        <p:spPr bwMode="auto">
          <a:xfrm>
            <a:off x="1428728" y="5429264"/>
            <a:ext cx="6215106" cy="1107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 l="22511" t="34180" r="22035" b="1699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 l="22511" t="35156" r="26427" b="3320"/>
          <a:stretch>
            <a:fillRect/>
          </a:stretch>
        </p:blipFill>
        <p:spPr bwMode="auto">
          <a:xfrm>
            <a:off x="-1" y="0"/>
            <a:ext cx="9144001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 l="22511" t="29297" r="41801" b="1699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4"/>
          <p:cNvSpPr txBox="1">
            <a:spLocks noChangeArrowheads="1"/>
          </p:cNvSpPr>
          <p:nvPr/>
        </p:nvSpPr>
        <p:spPr bwMode="auto">
          <a:xfrm>
            <a:off x="4267200" y="990600"/>
            <a:ext cx="449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ru-RU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l="22511" t="27344" r="45644" b="15039"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1631</TotalTime>
  <Words>24</Words>
  <Application>Microsoft Office PowerPoint</Application>
  <PresentationFormat>Экран (4:3)</PresentationFormat>
  <Paragraphs>30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Сектор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User</cp:lastModifiedBy>
  <cp:revision>145</cp:revision>
  <cp:lastPrinted>1601-01-01T00:00:00Z</cp:lastPrinted>
  <dcterms:created xsi:type="dcterms:W3CDTF">1601-01-01T00:00:00Z</dcterms:created>
  <dcterms:modified xsi:type="dcterms:W3CDTF">2020-05-17T08:30:46Z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