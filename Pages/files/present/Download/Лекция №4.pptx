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82" r:id="rId4"/>
    <p:sldId id="293" r:id="rId5"/>
    <p:sldId id="283" r:id="rId6"/>
    <p:sldId id="261" r:id="rId7"/>
    <p:sldId id="289" r:id="rId8"/>
    <p:sldId id="291" r:id="rId9"/>
    <p:sldId id="292" r:id="rId10"/>
    <p:sldId id="294" r:id="rId11"/>
    <p:sldId id="295" r:id="rId12"/>
    <p:sldId id="296" r:id="rId13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5C"/>
    <a:srgbClr val="6600CC"/>
    <a:srgbClr val="5757C9"/>
    <a:srgbClr val="3F136F"/>
    <a:srgbClr val="FEE8FB"/>
    <a:srgbClr val="CC3399"/>
    <a:srgbClr val="3366FF"/>
    <a:srgbClr val="66FF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0" d="100"/>
          <a:sy n="60" d="100"/>
        </p:scale>
        <p:origin x="-1572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74BBFE0-E3D3-4CB4-AFE3-2199C524732C}" type="datetimeFigureOut">
              <a:rPr lang="ru-RU"/>
              <a:pPr>
                <a:defRPr/>
              </a:pPr>
              <a:t>17.05.2020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1A3C085-A465-4F65-BEED-09EC6C27E46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518849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A3C085-A465-4F65-BEED-09EC6C27E464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5E4002-0C00-4600-A524-24DB4D4665F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23581496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3B78CC-0EA9-4281-840D-91F66DD276D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4734321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1F4367-CBD5-4EB9-B11C-E5000DA2CD2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7551363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D34A3C-D698-4D75-8DFA-07D161E3D8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2039721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3D63A6-72A2-403F-B451-BF911649A87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2099344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30E38E-19E8-4E24-A82B-5557EEADE24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11301950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EB141B-7FF4-4907-8055-80D7741903C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87084127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C27BA1-B48C-4117-8FD9-B39BAD95627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9993384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088138-470B-4D9E-B391-0B4E99A9134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03081525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41309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81552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1646650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770146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302058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09642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4F0A12-67EC-4279-8261-44B0C5BC84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5208226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6DA82-11CC-43AE-9181-D9807D25A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4397403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01534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42918"/>
            <a:ext cx="77867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100" b="1" dirty="0" smtClean="0"/>
              <a:t> 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№4 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(2</a:t>
            </a:r>
            <a:r>
              <a:rPr lang="ky-KG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ч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algn="ctr"/>
            <a:endParaRPr lang="ru-RU" sz="3600" b="1" i="1" dirty="0" smtClean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Тема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algn="just"/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 Операторы цикла.</a:t>
            </a:r>
            <a:r>
              <a:rPr lang="ky-KG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Массивы</a:t>
            </a:r>
            <a:r>
              <a:rPr lang="ky-KG" sz="3600" i="1" dirty="0" smtClean="0"/>
              <a:t>.</a:t>
            </a:r>
            <a:r>
              <a:rPr lang="ky-KG" sz="3600" b="1" dirty="0" smtClean="0"/>
              <a:t> </a:t>
            </a:r>
            <a:endParaRPr lang="ru-RU" sz="3600" b="1" i="1" dirty="0" smtClean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357166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Цель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лекции: 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Изучить 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операторы цикла и массивы языка С++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Рассматриваемые вопросы: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Основные понятия и определения циклов.</a:t>
            </a:r>
          </a:p>
          <a:p>
            <a:pPr lvl="0">
              <a:buFont typeface="Wingdings" pitchFamily="2" charset="2"/>
              <a:buChar char="Ø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Цикл с параметром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Цикл с предусловием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Цикл с постусловием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 while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buFont typeface="Wingdings" pitchFamily="2" charset="2"/>
              <a:buChar char="Ø"/>
            </a:pP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Массивы.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Глоссарий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Безусловный переход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- это такой переход, который передает  управление всякий раз, когда он выполняется.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Итерация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один проход цикла.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Цикл 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разновидность управляющей конструкции в высокоуровневых языках программирования, предназначенная для организации многократного исполнения набора инструкций.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Массив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(в некоторых языках программирования также таблица, ряд) — набор однотипных компонентов (элементов), расположенных в памяти непосредственно друг за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другом.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500" b="1" dirty="0" smtClean="0">
                <a:latin typeface="Times New Roman" pitchFamily="18" charset="0"/>
                <a:cs typeface="Times New Roman" pitchFamily="18" charset="0"/>
              </a:rPr>
              <a:t>Основные понятия и определения циклов.</a:t>
            </a:r>
            <a:endParaRPr lang="ru-RU" sz="25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Операторы цикла используются для организации многократно повторяющихся вычислений. Любой цикл состоит из тела цикла, то есть тех операторов, которые выполняются несколько раз, начальных установок, модификации </a:t>
            </a:r>
            <a:r>
              <a:rPr lang="ru-RU" sz="2500" b="1" i="1" dirty="0" smtClean="0">
                <a:latin typeface="Times New Roman" pitchFamily="18" charset="0"/>
                <a:cs typeface="Times New Roman" pitchFamily="18" charset="0"/>
              </a:rPr>
              <a:t>параметра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 цикла и  проверки условия продолжения выполнения цикла. Тело цикла будет повторяться до тех пор, пока условие цикла истинно. Один проход цикла называется </a:t>
            </a:r>
            <a:r>
              <a:rPr lang="ru-RU" sz="2500" b="1" i="1" dirty="0" smtClean="0">
                <a:latin typeface="Times New Roman" pitchFamily="18" charset="0"/>
                <a:cs typeface="Times New Roman" pitchFamily="18" charset="0"/>
              </a:rPr>
              <a:t>итерацией</a:t>
            </a:r>
            <a:r>
              <a:rPr lang="ru-RU" sz="25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 Переменные, изменяющиеся в теле цикла и используемые при проверке условия продолжения, называются </a:t>
            </a:r>
            <a:r>
              <a:rPr lang="ru-RU" sz="2500" b="1" i="1" dirty="0" smtClean="0">
                <a:latin typeface="Times New Roman" pitchFamily="18" charset="0"/>
                <a:cs typeface="Times New Roman" pitchFamily="18" charset="0"/>
              </a:rPr>
              <a:t>параметрами цикла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. Целочисленные параметры цикла, изменяющиеся с постоянным шагом на каждой итерации, называются </a:t>
            </a:r>
            <a:r>
              <a:rPr lang="ru-RU" sz="2500" b="1" i="1" dirty="0" smtClean="0">
                <a:latin typeface="Times New Roman" pitchFamily="18" charset="0"/>
                <a:cs typeface="Times New Roman" pitchFamily="18" charset="0"/>
              </a:rPr>
              <a:t>счетчиками</a:t>
            </a:r>
            <a:r>
              <a:rPr lang="ru-RU" sz="25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цикла. Цикл завершается, если условие его продолжения не выполняется. Возможно принудительное завершение как текущей итерации, так и цикла в целом. Для этого служат операторы </a:t>
            </a:r>
            <a:r>
              <a:rPr lang="ru-RU" sz="2500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500" dirty="0" err="1" smtClean="0">
                <a:latin typeface="Times New Roman" pitchFamily="18" charset="0"/>
                <a:cs typeface="Times New Roman" pitchFamily="18" charset="0"/>
              </a:rPr>
              <a:t>continue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5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500" dirty="0" err="1" smtClean="0"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algn="just"/>
            <a:endParaRPr lang="ru-RU" sz="2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500" b="1" dirty="0" smtClean="0">
                <a:latin typeface="Times New Roman" pitchFamily="18" charset="0"/>
                <a:cs typeface="Times New Roman" pitchFamily="18" charset="0"/>
              </a:rPr>
              <a:t>Цикл с параметром </a:t>
            </a:r>
            <a:r>
              <a:rPr lang="ru-RU" sz="2500" b="1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endParaRPr lang="ru-RU" sz="25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Предоставляет  возможность  повторять один или несколько операторов указанное число раз. </a:t>
            </a:r>
          </a:p>
          <a:p>
            <a:pPr algn="just"/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Цикл с параметром имеет следующий формат:</a:t>
            </a:r>
          </a:p>
          <a:p>
            <a:pPr algn="just"/>
            <a:r>
              <a:rPr lang="ru-RU" sz="2500" b="1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sz="2500" b="1" dirty="0" smtClean="0">
                <a:latin typeface="Times New Roman" pitchFamily="18" charset="0"/>
                <a:cs typeface="Times New Roman" pitchFamily="18" charset="0"/>
              </a:rPr>
              <a:t> ( инициализация; выражение; модификации) { операторы };</a:t>
            </a:r>
            <a:endParaRPr lang="ru-RU" sz="25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500" u="sng" dirty="0" smtClean="0">
                <a:latin typeface="Times New Roman" pitchFamily="18" charset="0"/>
                <a:cs typeface="Times New Roman" pitchFamily="18" charset="0"/>
              </a:rPr>
              <a:t>Инициализация</a:t>
            </a:r>
            <a:r>
              <a:rPr lang="ru-RU" sz="25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используется для объявления и присвоения начальных значений величинам, используемым в цикле.  Инициализация выполняется один раз в начале исполнения цикла. Например, так: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 = 0,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 = 2; ...   </a:t>
            </a:r>
          </a:p>
          <a:p>
            <a:pPr algn="just"/>
            <a:r>
              <a:rPr lang="ru-RU" sz="2500" i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500" u="sng" dirty="0" smtClean="0">
                <a:latin typeface="Times New Roman" pitchFamily="18" charset="0"/>
                <a:cs typeface="Times New Roman" pitchFamily="18" charset="0"/>
              </a:rPr>
              <a:t>Выражение</a:t>
            </a:r>
            <a:r>
              <a:rPr lang="ru-RU" sz="25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определяет условия выполнения цикла: если его результат, приведенный к типу </a:t>
            </a:r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bool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,  равен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, цикл выполняется. </a:t>
            </a:r>
          </a:p>
          <a:p>
            <a:pPr algn="just"/>
            <a:r>
              <a:rPr lang="ru-RU" sz="2500" i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500" u="sng" dirty="0" smtClean="0">
                <a:latin typeface="Times New Roman" pitchFamily="18" charset="0"/>
                <a:cs typeface="Times New Roman" pitchFamily="18" charset="0"/>
              </a:rPr>
              <a:t>Модификации</a:t>
            </a:r>
            <a:r>
              <a:rPr lang="ru-RU" sz="25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выполняются после каждой итерации цикла и служат обычно для изменения параметров цикла. В части модификаций можно записать несколько операторов через запятую. Простой или составной </a:t>
            </a:r>
            <a:r>
              <a:rPr lang="ru-RU" sz="2500" i="1" dirty="0" smtClean="0">
                <a:latin typeface="Times New Roman" pitchFamily="18" charset="0"/>
                <a:cs typeface="Times New Roman" pitchFamily="18" charset="0"/>
              </a:rPr>
              <a:t>оператор </a:t>
            </a:r>
            <a:r>
              <a:rPr lang="ru-RU" sz="2500" dirty="0" smtClean="0">
                <a:latin typeface="Times New Roman" pitchFamily="18" charset="0"/>
                <a:cs typeface="Times New Roman" pitchFamily="18" charset="0"/>
              </a:rPr>
              <a:t>представляет собой тело цикла. </a:t>
            </a:r>
            <a:endParaRPr lang="ru-RU" sz="2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ChangeArrowheads="1"/>
          </p:cNvSpPr>
          <p:nvPr/>
        </p:nvSpPr>
        <p:spPr bwMode="auto">
          <a:xfrm>
            <a:off x="0" y="0"/>
            <a:ext cx="9143999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Пример </a:t>
            </a:r>
            <a:r>
              <a:rPr kumimoji="0" lang="ky-KG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r>
              <a:rPr kumimoji="0" 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 </a:t>
            </a:r>
            <a:r>
              <a:rPr kumimoji="0" 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Написать программу, которая запрашивает  число, при котором цикл должен завершиться. Затем программа выводит числа от одного до указанного значения: </a:t>
            </a:r>
            <a:endParaRPr kumimoji="0" lang="ru-RU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 l="22511" t="34180" r="34663" b="14062"/>
          <a:stretch>
            <a:fillRect/>
          </a:stretch>
        </p:blipFill>
        <p:spPr bwMode="auto">
          <a:xfrm>
            <a:off x="214283" y="1211675"/>
            <a:ext cx="8215370" cy="543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ChangeArrowheads="1"/>
          </p:cNvSpPr>
          <p:nvPr/>
        </p:nvSpPr>
        <p:spPr bwMode="auto">
          <a:xfrm>
            <a:off x="1" y="0"/>
            <a:ext cx="9143999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457200" algn="l"/>
              </a:tabLst>
            </a:pPr>
            <a:endParaRPr kumimoji="0" lang="ru-RU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114300" algn="l"/>
                <a:tab pos="457200" algn="l"/>
              </a:tabLst>
            </a:pPr>
            <a:r>
              <a:rPr kumimoji="0" lang="ru-RU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Цикл с предусловием </a:t>
            </a:r>
            <a:r>
              <a:rPr kumimoji="0" lang="ru-RU" sz="2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while</a:t>
            </a:r>
            <a:endParaRPr kumimoji="0" lang="ru-RU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457200" algn="l"/>
              </a:tabLst>
            </a:pPr>
            <a:r>
              <a:rPr kumimoji="0" lang="ru-RU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Цикл с предусловием имеет вид:</a:t>
            </a:r>
            <a:endParaRPr kumimoji="0" lang="ru-RU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457200" algn="l"/>
              </a:tabLst>
            </a:pPr>
            <a:r>
              <a:rPr kumimoji="0" lang="ru-RU" sz="2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while</a:t>
            </a:r>
            <a:r>
              <a:rPr kumimoji="0" lang="ru-RU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( условие ) { операторы }</a:t>
            </a:r>
            <a:endParaRPr kumimoji="0" lang="ru-RU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228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4300" algn="l"/>
                <a:tab pos="457200" algn="l"/>
              </a:tabLst>
            </a:pPr>
            <a:r>
              <a:rPr kumimoji="0" lang="ru-RU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Выражение определяет условие повторения тела цикла, представленного простым или составным оператором.  Выполнение оператора начинается с вычисления выражения. Если оно истинно (не равно </a:t>
            </a: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false</a:t>
            </a:r>
            <a:r>
              <a:rPr kumimoji="0" lang="ru-RU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), выполняется оператор цикла. Если при первой проверки выражения равно  </a:t>
            </a:r>
            <a:r>
              <a:rPr kumimoji="0" 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false</a:t>
            </a:r>
            <a:r>
              <a:rPr kumimoji="0" lang="ru-RU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цикл не выполняется ни разу. Тип выражения должен быть арифметическим или приводимым к нему. Выражение вычисляется перед каждой итерацией цикла. </a:t>
            </a:r>
            <a:endParaRPr kumimoji="0" lang="ru-RU" sz="2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28596" y="214291"/>
            <a:ext cx="8286808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28600" eaLnBrk="0" hangingPunct="0">
              <a:tabLst>
                <a:tab pos="114300" algn="l"/>
                <a:tab pos="457200" algn="l"/>
              </a:tabLst>
            </a:pPr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While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работает так: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228600" eaLnBrk="0" hangingPunct="0">
              <a:tabLst>
                <a:tab pos="114300" algn="l"/>
                <a:tab pos="457200" algn="l"/>
              </a:tabLst>
            </a:pP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1.  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Программа выполняется, пока дело не дойдет до места, где написано </a:t>
            </a:r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while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 { Это место называется точкой входа в цикл}.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228600" eaLnBrk="0" hangingPunct="0">
              <a:tabLst>
                <a:tab pos="114300" algn="l"/>
                <a:tab pos="457200" algn="l"/>
              </a:tabLst>
            </a:pP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2. Проверяется выполнение условия. Затем, если условие, записанное в круглых скобках, истинно, начинают выполняться команды, записанные в фигурных скобках.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228600" eaLnBrk="0" hangingPunct="0">
              <a:tabLst>
                <a:tab pos="114300" algn="l"/>
                <a:tab pos="457200" algn="l"/>
              </a:tabLst>
            </a:pP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3. Программа будет выполняться до того места, где стоит закрывающая фигурная скобка. Затем программа вернется в то место, куда она дошла в пункте 1, то есть туда, где написано </a:t>
            </a:r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while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 { Снова проверится выполнение условия и т.д.}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228600" eaLnBrk="0" hangingPunct="0">
              <a:tabLst>
                <a:tab pos="114300" algn="l"/>
                <a:tab pos="457200" algn="l"/>
              </a:tabLst>
            </a:pP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4. Это будет продолжаться до тех пор, пока условие в круглых скобках не окажется ложным, иными словами, пока записанное там выражение не станет равно нулю. Если при первой проверке условие равно </a:t>
            </a:r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false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цикл не выполнится ни разу.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0"/>
            <a:ext cx="9144000" cy="686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Пример </a:t>
            </a:r>
            <a:r>
              <a:rPr kumimoji="0" lang="ky-KG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r>
              <a:rPr kumimoji="0" lang="ru-RU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 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Написать программу, которая находит все делители целого положительного числа.</a:t>
            </a:r>
            <a:r>
              <a:rPr kumimoji="0" lang="ru-RU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#include 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iostream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&gt;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using namespace std;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main()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{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setlocale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LC_ALL,"Russian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");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chislo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&lt;&lt;"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Введите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число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"&lt;&lt;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endl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cin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&gt;&gt;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chislo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half=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chislo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/2;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div=2;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while(div&lt;=half)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{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if( ! (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chislo%div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))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cout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&lt;&lt;div&lt;&lt;</a:t>
            </a: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endl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div++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}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system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("PAUSE"); 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return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0;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Цикл с постусловием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do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while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Цикл с постусловием имеет вид: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do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{ операторы }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while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условие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Сначала выполняется простой  или составной оператор, составляющий тело цикла, а затем вычисляется выражение.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Если оно истинно, тело цикла выполняется еще раз. Цикл завершается, когда выражение станет равным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false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или в теле цикла будет выполнен какой –либо оператор передачи управления. Тип выражения должен быть арифметическим или приводимым к нему. </a:t>
            </a:r>
            <a:r>
              <a:rPr lang="ru-RU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Пример </a:t>
            </a:r>
            <a:r>
              <a:rPr lang="ky-KG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ru-RU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    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Написать программу, которая вычисляет сумму только отрицательных чисел.</a:t>
            </a:r>
          </a:p>
          <a:p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#include &lt;</a:t>
            </a: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iostream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&gt;</a:t>
            </a:r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using namespace std;</a:t>
            </a:r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main ()</a:t>
            </a:r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{</a:t>
            </a:r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9144000" cy="7109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setlocale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LC_ALL,"Russian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");</a:t>
            </a:r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sum,  </a:t>
            </a: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n, </a:t>
            </a: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</a:t>
            </a:r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sum=0;</a:t>
            </a:r>
          </a:p>
          <a:p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cout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&lt;&lt;"Введите количество цифр ";</a:t>
            </a:r>
          </a:p>
          <a:p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cin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&gt;&gt;</a:t>
            </a:r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  // требует ввода количества цифр</a:t>
            </a:r>
          </a:p>
          <a:p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for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(i=0; </a:t>
            </a:r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&lt;</a:t>
            </a:r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 </a:t>
            </a:r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i++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cin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&gt;&gt;</a:t>
            </a:r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  // требует ввода очередного числа</a:t>
            </a:r>
          </a:p>
          <a:p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&gt;=0) </a:t>
            </a:r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continue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  // если число положительное, либо ноль, то подается команда не выполнять суммирование</a:t>
            </a:r>
          </a:p>
          <a:p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sum+=ch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    //суммирует</a:t>
            </a:r>
          </a:p>
          <a:p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cout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&lt;&lt;"Сумма отрицательных чисел равна ";</a:t>
            </a:r>
          </a:p>
          <a:p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&lt;&lt;sum&lt;&lt;</a:t>
            </a: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endl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;</a:t>
            </a:r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system("PAUSE"); </a:t>
            </a:r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0;</a:t>
            </a:r>
          </a:p>
          <a:p>
            <a:r>
              <a:rPr lang="ru-RU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}</a:t>
            </a:r>
          </a:p>
          <a:p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449263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9144000" cy="7478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y-KG" sz="2400" b="1" dirty="0" smtClean="0">
                <a:latin typeface="Times New Roman" pitchFamily="18" charset="0"/>
                <a:cs typeface="Times New Roman" pitchFamily="18" charset="0"/>
              </a:rPr>
              <a:t>Массивы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Массив –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это специальная структура данных, позволяющая хранить несколько значений одного и того же типа.  Для объявления массива необходимо указать имя, тип значений, хранящихся в массиве, а также количество значений (называемых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элементами массива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Структура массива имеет следующий вид: 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тип имя переменной [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],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где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- количество элементов в массиве.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Например,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Array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[5]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	Чтобы обратиться к значению, хранящемуся внутри массива, необходимо  указать имя массива и номер элемента.  Элементы массива автоматически нумеруются, причем нумерация всегда начинается с нуля. Таким образом, элементы в массиве нумеруются от  0 до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-1. Номер (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индекс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элемента ставится в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квадратных скобках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имени массива. Массив можно узнать по квадратным скобкам, как функцию – по круглым. Число, определяющее, сколько элементов может быть в массиве, называется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размерностью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Массивы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могут быть двух типов: одномерные, многомерные.</a:t>
            </a:r>
          </a:p>
          <a:p>
            <a:pPr algn="just"/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449263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9144000" cy="7478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Пример </a:t>
            </a:r>
            <a:r>
              <a:rPr lang="ky-KG" sz="24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Написать  программа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создает массив с именем </a:t>
            </a:r>
            <a:r>
              <a:rPr lang="ru-RU" sz="2400" i="1" dirty="0" err="1" smtClean="0">
                <a:latin typeface="Times New Roman" pitchFamily="18" charset="0"/>
                <a:cs typeface="Times New Roman" pitchFamily="18" charset="0"/>
              </a:rPr>
              <a:t>values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который вмещает 3 целочисленных значений. Далее программа присваивает элементам соответствующие значения. 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#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include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&lt;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setlocale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LC_ALL,"Russian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");	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using namespace std;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values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[5]; // Объявление массива</a:t>
            </a:r>
          </a:p>
          <a:p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values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[0] = 100;</a:t>
            </a:r>
          </a:p>
          <a:p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values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[1] = 200;</a:t>
            </a:r>
          </a:p>
          <a:p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values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[2] = 300;</a:t>
            </a:r>
          </a:p>
          <a:p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&lt;&lt; "Массив содержит следующие значения" &lt;&lt;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&lt;&lt; values [0] &lt;&lt; ' ' &lt;&lt; values [1] &lt;&lt; ' ' &lt;&lt; values [2] &lt;&lt;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PAUSE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");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0;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} 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Результат программы: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Массив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содержит следующие значения 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100 200 300 </a:t>
            </a:r>
          </a:p>
          <a:p>
            <a:pPr algn="just"/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449263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4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1675</TotalTime>
  <Words>891</Words>
  <Application>Microsoft Office PowerPoint</Application>
  <PresentationFormat>Экран (4:3)</PresentationFormat>
  <Paragraphs>102</Paragraphs>
  <Slides>12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Сектор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User</cp:lastModifiedBy>
  <cp:revision>151</cp:revision>
  <cp:lastPrinted>1601-01-01T00:00:00Z</cp:lastPrinted>
  <dcterms:created xsi:type="dcterms:W3CDTF">1601-01-01T00:00:00Z</dcterms:created>
  <dcterms:modified xsi:type="dcterms:W3CDTF">2020-05-17T09:15:52Z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